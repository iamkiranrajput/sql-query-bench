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2BB2F-23DB-6CBD-A0F0-1FA8F73CE13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47472"/>
            <a:ext cx="1828800" cy="292608"/>
          </a:xfrm>
          <a:prstGeom prst="roundRect">
            <a:avLst/>
          </a:prstGeom>
          <a:solidFill>
            <a:srgbClr val="0D1C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1609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38BDF8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863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Trusted SQL is harder than generated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35331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>
                <a:solidFill>
                  <a:srgbClr val="B2C4DE"/>
                </a:solidFill>
                <a:latin typeface="Aptos"/>
              </a:rPr>
              <a:t>Business users ask in plain English, but enterprise databases hide meaning across schemas, governance docs, joins, and extensions.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411480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7D94B4"/>
                </a:solidFill>
                <a:latin typeface="Aptos"/>
              </a:rPr>
              <a:t>QueryBench | Microsoft Agents League Hackathon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10835640" cy="713232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Aptos"/>
              </a:rPr>
              <a:t>Example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38528"/>
            <a:ext cx="89611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1">
                <a:solidFill>
                  <a:srgbClr val="F8FAFC"/>
                </a:solidFill>
                <a:latin typeface="Aptos"/>
              </a:rPr>
              <a:t>Which customers live within 5 km of a downtown store, have churned per our definition, and what product should we win them back with?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52928"/>
            <a:ext cx="3429000" cy="233172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6968" y="3054096"/>
            <a:ext cx="329184" cy="329184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113532"/>
            <a:ext cx="329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035808"/>
            <a:ext cx="258775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Business meaning is outside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11296"/>
            <a:ext cx="2971800" cy="1508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"Churned customer" is not a column.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It is a governed rule: active before, but no completed order in the last 180 days.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Similar hidden definitions exist for active customer, net revenue, and downtown.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852928"/>
            <a:ext cx="3429000" cy="233172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90288" y="3054096"/>
            <a:ext cx="329184" cy="329184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3113532"/>
            <a:ext cx="329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035808"/>
            <a:ext cx="258775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Real questions are multi-step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511296"/>
            <a:ext cx="2971800" cy="1508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The agent must discover tables and joins, inspect columns, detect PostGIS, write distance logic, validate SQL, execute it, and explain rows.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A one-shot SQL answer skips this discovery loop.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852928"/>
            <a:ext cx="3429000" cy="233172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93608" y="3054096"/>
            <a:ext cx="329184" cy="329184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3113532"/>
            <a:ext cx="329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3035808"/>
            <a:ext cx="258775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AI answers often lack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11296"/>
            <a:ext cx="2971800" cy="1508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The SQL may run but still be logically wrong.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Common mistakes: guessed table names, city text instead of geometry, ignored order status rules, weak keyword search instead of vector search.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80">
                <a:solidFill>
                  <a:srgbClr val="B2C4DE"/>
                </a:solidFill>
                <a:latin typeface="Aptos"/>
              </a:defRPr>
            </a:pPr>
            <a:r>
              <a:t>Users see the result, not the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413248"/>
            <a:ext cx="9921240" cy="640080"/>
          </a:xfrm>
          <a:prstGeom prst="roundRect">
            <a:avLst/>
          </a:prstGeom>
          <a:solidFill>
            <a:srgbClr val="0C1829"/>
          </a:solidFill>
          <a:ln w="127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5550408"/>
            <a:ext cx="94640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 b="1" dirty="0">
                <a:solidFill>
                  <a:srgbClr val="F8FAFC"/>
                </a:solidFill>
                <a:latin typeface="Aptos"/>
              </a:rPr>
              <a:t>Need: a SQL agent that understands governed meaning, adapts to database capabilities, validates every query, and proves the answer path.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0">
                <a:solidFill>
                  <a:srgbClr val="B2C4DE"/>
                </a:solidFill>
                <a:latin typeface="Aptos"/>
              </a:rPr>
              <a:t>Problem in one line: not text-to-SQL, but trusted enterprise text-to-SQL.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47472"/>
            <a:ext cx="1828800" cy="292608"/>
          </a:xfrm>
          <a:prstGeom prst="roundRect">
            <a:avLst/>
          </a:prstGeom>
          <a:solidFill>
            <a:srgbClr val="0D1C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1609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38BDF8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8993418" cy="4832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QueryBench: a governed, tool-driven SQL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0" dirty="0">
                <a:solidFill>
                  <a:srgbClr val="B2C4DE"/>
                </a:solidFill>
                <a:latin typeface="Aptos"/>
              </a:rPr>
              <a:t>Copilot reasons, MCP tools act, Microsoft Foundry IQ grounds business meaning, and the Trust Panel proves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411480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7D94B4"/>
                </a:solidFill>
                <a:latin typeface="Aptos"/>
              </a:rPr>
              <a:t>QueryBench | Microsoft Agents League Hackathon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1389888" cy="91440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2011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1">
                <a:solidFill>
                  <a:srgbClr val="F8FAFC"/>
                </a:solidFill>
                <a:latin typeface="Aptos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95728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B2C4DE"/>
                </a:solidFill>
                <a:latin typeface="Aptos"/>
              </a:rPr>
              <a:t>Plain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240280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7D94B4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938528"/>
            <a:ext cx="1417320" cy="91440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3432" y="2057400"/>
            <a:ext cx="2011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02996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1">
                <a:solidFill>
                  <a:srgbClr val="F8FAFC"/>
                </a:solidFill>
                <a:latin typeface="Aptos"/>
              </a:rPr>
              <a:t>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2395728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B2C4DE"/>
                </a:solidFill>
                <a:latin typeface="Aptos"/>
              </a:rPr>
              <a:t>Foundry IQ definitions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240280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dirty="0">
                <a:solidFill>
                  <a:srgbClr val="7D94B4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1" y="1938528"/>
            <a:ext cx="1399030" cy="91440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41063" y="2057400"/>
            <a:ext cx="2011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202996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1">
                <a:solidFill>
                  <a:srgbClr val="F8FAFC"/>
                </a:solidFill>
                <a:latin typeface="Aptos"/>
              </a:rPr>
              <a:t>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7" y="2395728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B2C4DE"/>
                </a:solidFill>
                <a:latin typeface="Aptos"/>
              </a:rPr>
              <a:t>Schema + extensions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240280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7D94B4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0406" y="1938528"/>
            <a:ext cx="1408177" cy="91440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68696" y="2057400"/>
            <a:ext cx="2011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02996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1">
                <a:solidFill>
                  <a:srgbClr val="F8FAFC"/>
                </a:solidFill>
                <a:latin typeface="Aptos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395728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B2C4DE"/>
                </a:solidFill>
                <a:latin typeface="Aptos"/>
              </a:rPr>
              <a:t>Database-aware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3" y="2240280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7D94B4"/>
                </a:solidFill>
                <a:latin typeface="Aptos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68894" y="1938528"/>
            <a:ext cx="1417321" cy="91440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96328" y="2057400"/>
            <a:ext cx="2011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84CC16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202996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1">
                <a:solidFill>
                  <a:srgbClr val="F8FAFC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2395728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B2C4DE"/>
                </a:solidFill>
                <a:latin typeface="Aptos"/>
              </a:rPr>
              <a:t>Read-only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2240280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dirty="0">
                <a:solidFill>
                  <a:srgbClr val="7D94B4"/>
                </a:solidFill>
                <a:latin typeface="Aptos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1938528"/>
            <a:ext cx="1389888" cy="91440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2057400"/>
            <a:ext cx="2011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84CC16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202996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1">
                <a:solidFill>
                  <a:srgbClr val="F8FAFC"/>
                </a:solidFill>
                <a:latin typeface="Aptos"/>
              </a:rPr>
              <a:t>Execute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2395728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B2C4DE"/>
                </a:solidFill>
                <a:latin typeface="Aptos"/>
              </a:rPr>
              <a:t>Rows + timings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8" y="2240280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>
                <a:solidFill>
                  <a:srgbClr val="7D94B4"/>
                </a:solidFill>
                <a:latin typeface="Aptos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24159" y="1938528"/>
            <a:ext cx="1417319" cy="91440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51592" y="2057400"/>
            <a:ext cx="2011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Apto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43615" y="2029968"/>
            <a:ext cx="1097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1">
                <a:solidFill>
                  <a:srgbClr val="F8FAFC"/>
                </a:solidFill>
                <a:latin typeface="Aptos"/>
              </a:rPr>
              <a:t>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2395728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B2C4DE"/>
                </a:solidFill>
                <a:latin typeface="Aptos"/>
              </a:rPr>
              <a:t>Score + 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3246120"/>
            <a:ext cx="5166360" cy="868680"/>
          </a:xfrm>
          <a:prstGeom prst="roundRect">
            <a:avLst/>
          </a:prstGeom>
          <a:solidFill>
            <a:srgbClr val="17253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" y="3364991"/>
            <a:ext cx="4754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b="1">
                <a:solidFill>
                  <a:srgbClr val="F8FAFC"/>
                </a:solidFill>
                <a:latin typeface="Aptos"/>
              </a:rPr>
              <a:t>Microsoft Foundry IQ grounding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3639312"/>
            <a:ext cx="4754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90" b="0">
                <a:solidFill>
                  <a:srgbClr val="B2C4DE"/>
                </a:solidFill>
                <a:latin typeface="Aptos"/>
              </a:rPr>
              <a:t>Governed definitions for churned, active, net revenue, downtown, and PostGIS conventions are cited before SQL is written.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246120"/>
            <a:ext cx="5166360" cy="868680"/>
          </a:xfrm>
          <a:prstGeom prst="roundRect">
            <a:avLst/>
          </a:prstGeom>
          <a:solidFill>
            <a:srgbClr val="1725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19088" y="3364991"/>
            <a:ext cx="4754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b="1">
                <a:solidFill>
                  <a:srgbClr val="F8FAFC"/>
                </a:solidFill>
                <a:latin typeface="Aptos"/>
              </a:rPr>
              <a:t>MCP tool orchestration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639312"/>
            <a:ext cx="4754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90" b="0">
                <a:solidFill>
                  <a:srgbClr val="B2C4DE"/>
                </a:solidFill>
                <a:latin typeface="Aptos"/>
              </a:rPr>
              <a:t>The agent calls schema search, column search, extension detection, SQL validation, execution, semantic search, and relationship discovery.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4325112"/>
            <a:ext cx="5166360" cy="868680"/>
          </a:xfrm>
          <a:prstGeom prst="roundRect">
            <a:avLst/>
          </a:prstGeom>
          <a:solidFill>
            <a:srgbClr val="17253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6968" y="4443983"/>
            <a:ext cx="4754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b="1">
                <a:solidFill>
                  <a:srgbClr val="F8FAFC"/>
                </a:solidFill>
                <a:latin typeface="Aptos"/>
              </a:rPr>
              <a:t>Live database capability awareness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4718303"/>
            <a:ext cx="4754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90" b="0">
                <a:solidFill>
                  <a:srgbClr val="B2C4DE"/>
                </a:solidFill>
                <a:latin typeface="Aptos"/>
              </a:rPr>
              <a:t>Reads Supabase/PostgreSQL schema directly, including geometry(Point,4326), vector(384), primary keys, and foreign keys.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325112"/>
            <a:ext cx="5166360" cy="868680"/>
          </a:xfrm>
          <a:prstGeom prst="roundRect">
            <a:avLst/>
          </a:prstGeom>
          <a:solidFill>
            <a:srgbClr val="17253D"/>
          </a:solidFill>
          <a:ln w="127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19088" y="4443983"/>
            <a:ext cx="4754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b="1">
                <a:solidFill>
                  <a:srgbClr val="F8FAFC"/>
                </a:solidFill>
                <a:latin typeface="Aptos"/>
              </a:rPr>
              <a:t>Trust Panel and audit trail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4718303"/>
            <a:ext cx="47548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90" b="0">
                <a:solidFill>
                  <a:srgbClr val="B2C4DE"/>
                </a:solidFill>
                <a:latin typeface="Aptos"/>
              </a:rPr>
              <a:t>Shows schema validation, governed sources, cross-checks, result sanity, SQL, rows, timings, and a trust score.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7552" y="5596127"/>
            <a:ext cx="10222992" cy="628503"/>
          </a:xfrm>
          <a:prstGeom prst="roundRect">
            <a:avLst/>
          </a:prstGeom>
          <a:solidFill>
            <a:srgbClr val="0C18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34440" y="5724144"/>
            <a:ext cx="97383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80" b="1">
                <a:solidFill>
                  <a:srgbClr val="F8FAFC"/>
                </a:solidFill>
                <a:latin typeface="Aptos"/>
              </a:rPr>
              <a:t>Outcome: natural-language questions become governed, validated, explainable SQL answers that business users and data teams can trust.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327648"/>
            <a:ext cx="107899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0" dirty="0" err="1">
                <a:solidFill>
                  <a:srgbClr val="B2C4DE"/>
                </a:solidFill>
                <a:latin typeface="Aptos"/>
              </a:rPr>
              <a:t>QueryBench</a:t>
            </a:r>
            <a:r>
              <a:rPr sz="1150" b="0" dirty="0">
                <a:solidFill>
                  <a:srgbClr val="B2C4DE"/>
                </a:solidFill>
                <a:latin typeface="Aptos"/>
              </a:rPr>
              <a:t> proves the answer, it does not just generate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20040"/>
            <a:ext cx="713232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500" b="1">
                <a:solidFill>
                  <a:srgbClr val="EFF6FF"/>
                </a:solidFill>
                <a:latin typeface="Aptos Display"/>
              </a:rPr>
              <a:t>Technology Stack &amp; Integration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987552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50" b="0">
                <a:solidFill>
                  <a:srgbClr val="ADBED3"/>
                </a:solidFill>
                <a:latin typeface="Aptos Display"/>
              </a:rPr>
              <a:t>QueryBench combines governed agent reasoning with controlled database tools, live schema awareness, and visible trust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70432"/>
            <a:ext cx="10972800" cy="384048"/>
          </a:xfrm>
          <a:prstGeom prst="roundRect">
            <a:avLst>
              <a:gd name="adj" fmla="val 18000"/>
            </a:avLst>
          </a:prstGeom>
          <a:solidFill>
            <a:srgbClr val="142741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252728"/>
            <a:ext cx="104698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919" b="1">
                <a:solidFill>
                  <a:srgbClr val="EFF6FF"/>
                </a:solidFill>
                <a:latin typeface="Aptos Display"/>
              </a:rPr>
              <a:t>User question -&gt; GitHub auth + Copilot model access -&gt; MCP tool workflow -&gt; Supabase/PostgreSQL -&gt; SQL + rows + trust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111F34"/>
          </a:solidFill>
          <a:ln w="13970">
            <a:solidFill>
              <a:srgbClr val="2A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73152" cy="1353312"/>
          </a:xfrm>
          <a:prstGeom prst="rect">
            <a:avLst/>
          </a:prstGeom>
          <a:solidFill>
            <a:srgbClr val="3A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929384"/>
            <a:ext cx="3044952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AB9FF"/>
                </a:solidFill>
                <a:latin typeface="Aptos Display"/>
              </a:rPr>
              <a:t>User &amp;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94560"/>
            <a:ext cx="3044952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ADBED3"/>
                </a:solidFill>
                <a:latin typeface="Aptos Display"/>
              </a:rPr>
              <a:t>secure 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87168"/>
            <a:ext cx="3044952" cy="56692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Angular UI for chat, schema explorer, results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GitHub login / PAT used for Copilot access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Session history and query logs for demo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83080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111F34"/>
          </a:solidFill>
          <a:ln w="13970">
            <a:solidFill>
              <a:srgbClr val="2A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783080"/>
            <a:ext cx="73152" cy="1353312"/>
          </a:xfrm>
          <a:prstGeom prst="rect">
            <a:avLst/>
          </a:prstGeom>
          <a:solidFill>
            <a:srgbClr val="AA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929384"/>
            <a:ext cx="3044952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AA87FF"/>
                </a:solidFill>
                <a:latin typeface="Aptos Display"/>
              </a:rPr>
              <a:t>Agent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194560"/>
            <a:ext cx="3044952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ADBED3"/>
                </a:solidFill>
                <a:latin typeface="Aptos Display"/>
              </a:rPr>
              <a:t>GitHub Copilot + prompt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87168"/>
            <a:ext cx="3044952" cy="56692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Copilot handles planning and SQL reasoning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The agent is instructed to call tools first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Conversation context keeps follow-up queries grounded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783080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111F34"/>
          </a:solidFill>
          <a:ln w="13970">
            <a:solidFill>
              <a:srgbClr val="2A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7575" y="1783080"/>
            <a:ext cx="73152" cy="1353312"/>
          </a:xfrm>
          <a:prstGeom prst="rect">
            <a:avLst/>
          </a:prstGeom>
          <a:solidFill>
            <a:srgbClr val="93E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38744" y="1929384"/>
            <a:ext cx="3044952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93EB56"/>
                </a:solidFill>
                <a:latin typeface="Aptos Display"/>
              </a:rPr>
              <a:t>Foundry IQ 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194560"/>
            <a:ext cx="3044952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ADBED3"/>
                </a:solidFill>
                <a:latin typeface="Aptos Display"/>
              </a:rPr>
              <a:t>business meaning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87168"/>
            <a:ext cx="3044952" cy="56692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Definitions: active, churned, net revenue, downtown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Citations prove which governed rule was used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Prevents guessing from only table or column names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75887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111F34"/>
          </a:solidFill>
          <a:ln w="13970">
            <a:solidFill>
              <a:srgbClr val="2A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675887"/>
            <a:ext cx="73152" cy="13533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822191"/>
            <a:ext cx="3044952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FBE5C"/>
                </a:solidFill>
                <a:latin typeface="Aptos Display"/>
              </a:rPr>
              <a:t>MCP Tool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087368"/>
            <a:ext cx="3044952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ADBED3"/>
                </a:solidFill>
                <a:latin typeface="Aptos Display"/>
              </a:rPr>
              <a:t>24 controlled database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379975"/>
            <a:ext cx="3044952" cy="56692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Search schema, columns, relationships, samples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Detect extensions: PostGIS, pgvector, compatibility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Validate, execute, explain, and fix read-only 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3675887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111F34"/>
          </a:solidFill>
          <a:ln w="13970">
            <a:solidFill>
              <a:srgbClr val="2A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15968" y="3675887"/>
            <a:ext cx="73152" cy="1353312"/>
          </a:xfrm>
          <a:prstGeom prst="rect">
            <a:avLst/>
          </a:prstGeom>
          <a:solidFill>
            <a:srgbClr val="3A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17136" y="3822191"/>
            <a:ext cx="3044952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3AB9FF"/>
                </a:solidFill>
                <a:latin typeface="Aptos Display"/>
              </a:rPr>
              <a:t>Data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087368"/>
            <a:ext cx="3044952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ADBED3"/>
                </a:solidFill>
                <a:latin typeface="Aptos Display"/>
              </a:rPr>
              <a:t>multi-database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379975"/>
            <a:ext cx="3044952" cy="56692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Supabase/PostgreSQL demo database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Customer, order, product, store, location data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PostGIS geometry + pgvector embeddings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7575" y="3675887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111F34"/>
          </a:solidFill>
          <a:ln w="13970">
            <a:solidFill>
              <a:srgbClr val="2A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37575" y="3675887"/>
            <a:ext cx="73152" cy="1353312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38744" y="3822191"/>
            <a:ext cx="3044952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>
                <a:solidFill>
                  <a:srgbClr val="FF8282"/>
                </a:solidFill>
                <a:latin typeface="Aptos Display"/>
              </a:rPr>
              <a:t>Trust &amp; 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4087368"/>
            <a:ext cx="3044952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50" b="0">
                <a:solidFill>
                  <a:srgbClr val="ADBED3"/>
                </a:solidFill>
                <a:latin typeface="Aptos Display"/>
              </a:rPr>
              <a:t>answer is proven, not hidden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4379975"/>
            <a:ext cx="3044952" cy="566928"/>
          </a:xfrm>
          <a:prstGeom prst="rect">
            <a:avLst/>
          </a:prstGeom>
          <a:noFill/>
        </p:spPr>
        <p:txBody>
          <a:bodyPr wrap="square" lIns="0" tIns="0" rIns="18288" bIns="0">
            <a:spAutoFit/>
          </a:bodyPr>
          <a:lstStyle/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Trust score, checks, SQL, rows, and citations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Tool trace shows every step the agent performed</a:t>
            </a:r>
          </a:p>
          <a:p>
            <a:pPr>
              <a:spcAft>
                <a:spcPts val="200"/>
              </a:spcAft>
              <a:defRPr sz="940">
                <a:solidFill>
                  <a:srgbClr val="EFF6FF"/>
                </a:solidFill>
                <a:latin typeface="Aptos"/>
              </a:defRPr>
            </a:pPr>
            <a:r>
              <a:t>Read-only guard blocks destructive statements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14215" y="2450592"/>
            <a:ext cx="265177" cy="0"/>
          </a:xfrm>
          <a:prstGeom prst="line">
            <a:avLst/>
          </a:prstGeom>
          <a:ln w="27940">
            <a:solidFill>
              <a:srgbClr val="3AB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35824" y="2450592"/>
            <a:ext cx="265176" cy="0"/>
          </a:xfrm>
          <a:prstGeom prst="line">
            <a:avLst/>
          </a:prstGeom>
          <a:ln w="27940">
            <a:solidFill>
              <a:srgbClr val="3AB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04288" y="3182112"/>
            <a:ext cx="0" cy="420624"/>
          </a:xfrm>
          <a:prstGeom prst="line">
            <a:avLst/>
          </a:prstGeom>
          <a:ln w="2794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25896" y="3182112"/>
            <a:ext cx="0" cy="420624"/>
          </a:xfrm>
          <a:prstGeom prst="line">
            <a:avLst/>
          </a:prstGeom>
          <a:ln w="2794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747504" y="3182112"/>
            <a:ext cx="0" cy="420624"/>
          </a:xfrm>
          <a:prstGeom prst="line">
            <a:avLst/>
          </a:prstGeom>
          <a:ln w="2794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51560" y="6144768"/>
            <a:ext cx="10104120" cy="384048"/>
          </a:xfrm>
          <a:prstGeom prst="roundRect">
            <a:avLst>
              <a:gd name="adj" fmla="val 20000"/>
            </a:avLst>
          </a:prstGeom>
          <a:solidFill>
            <a:srgbClr val="0B192B"/>
          </a:solidFill>
          <a:ln w="12700">
            <a:solidFill>
              <a:srgbClr val="20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6152" y="6245352"/>
            <a:ext cx="9765792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880" b="0">
                <a:solidFill>
                  <a:srgbClr val="ADBED3"/>
                </a:solidFill>
                <a:latin typeface="Aptos Display"/>
              </a:rPr>
              <a:t>Demo proof: one natural-language question moves across all layers, then returns SQL, live rows, citations, and a trust score.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48672" y="6547104"/>
            <a:ext cx="1572768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680" b="0">
                <a:solidFill>
                  <a:srgbClr val="6B7D96"/>
                </a:solidFill>
                <a:latin typeface="Aptos Display"/>
              </a:rPr>
              <a:t>QueryBench | 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719</Words>
  <Application>Microsoft Office PowerPoint</Application>
  <PresentationFormat>Widescreen</PresentationFormat>
  <Paragraphs>98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Kiran Rajput (kirrajpu)</dc:creator>
  <cp:keywords/>
  <dc:description>generated using python-pptx</dc:description>
  <cp:lastModifiedBy>Kiran Rajput (kirrajpu)</cp:lastModifiedBy>
  <cp:revision>4</cp:revision>
  <dcterms:created xsi:type="dcterms:W3CDTF">2013-01-27T09:14:16Z</dcterms:created>
  <dcterms:modified xsi:type="dcterms:W3CDTF">2026-06-15T10:57:12Z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